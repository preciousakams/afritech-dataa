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530" r:id="rId5"/>
    <p:sldId id="538" r:id="rId6"/>
    <p:sldId id="552" r:id="rId7"/>
    <p:sldId id="551" r:id="rId8"/>
    <p:sldId id="550" r:id="rId9"/>
    <p:sldId id="553" r:id="rId10"/>
    <p:sldId id="554" r:id="rId11"/>
    <p:sldId id="555" r:id="rId12"/>
    <p:sldId id="556" r:id="rId13"/>
    <p:sldId id="54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688"/>
    <a:srgbClr val="8822EE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750C9-4C12-446B-B1A9-0E903FCE034E}" v="2888" dt="2025-05-27T20:40:39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422"/>
  </p:normalViewPr>
  <p:slideViewPr>
    <p:cSldViewPr snapToGrid="0">
      <p:cViewPr>
        <p:scale>
          <a:sx n="100" d="100"/>
          <a:sy n="100" d="100"/>
        </p:scale>
        <p:origin x="-62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509" y="1585722"/>
            <a:ext cx="9921240" cy="1481328"/>
          </a:xfrm>
        </p:spPr>
        <p:txBody>
          <a:bodyPr/>
          <a:lstStyle/>
          <a:p>
            <a:r>
              <a:rPr lang="en-US" dirty="0" err="1"/>
              <a:t>AfriTech</a:t>
            </a:r>
            <a:r>
              <a:rPr lang="en-US" dirty="0"/>
              <a:t> Electronics Ltd</a:t>
            </a:r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Segoe UI"/>
              </a:rPr>
              <a:t>Precious Akams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36" y="-34290"/>
            <a:ext cx="9269349" cy="593598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Executive Summary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" y="-5334"/>
            <a:ext cx="258699" cy="531876"/>
          </a:xfrm>
        </p:spPr>
        <p:txBody>
          <a:bodyPr/>
          <a:lstStyle/>
          <a:p>
            <a:r>
              <a:rPr lang="en-US" sz="900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75592" y="6457950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770614" y="4191"/>
            <a:ext cx="849249" cy="541401"/>
          </a:xfrm>
        </p:spPr>
        <p:txBody>
          <a:bodyPr/>
          <a:lstStyle/>
          <a:p>
            <a:r>
              <a:rPr lang="en-US" sz="600" dirty="0">
                <a:latin typeface="Arial"/>
                <a:cs typeface="Arial"/>
              </a:rPr>
              <a:t>.</a:t>
            </a:r>
            <a:endParaRPr lang="en-US" sz="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22864" y="705802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578739" y="60095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450FF8-CE16-778C-B560-6D579C11ABEA}"/>
              </a:ext>
            </a:extLst>
          </p:cNvPr>
          <p:cNvSpPr txBox="1"/>
          <p:nvPr/>
        </p:nvSpPr>
        <p:spPr>
          <a:xfrm>
            <a:off x="9020175" y="8210550"/>
            <a:ext cx="49149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Total Revenue By Customer Type :</a:t>
            </a:r>
            <a:endParaRPr lang="en-US" dirty="0"/>
          </a:p>
        </p:txBody>
      </p:sp>
      <p:sp>
        <p:nvSpPr>
          <p:cNvPr id="92" name="Footer Placeholder 2">
            <a:extLst>
              <a:ext uri="{FF2B5EF4-FFF2-40B4-BE49-F238E27FC236}">
                <a16:creationId xmlns:a16="http://schemas.microsoft.com/office/drawing/2014/main" id="{3FBDA73C-00E0-6DBF-0466-B6DCAECFD9E2}"/>
              </a:ext>
            </a:extLst>
          </p:cNvPr>
          <p:cNvSpPr txBox="1">
            <a:spLocks/>
          </p:cNvSpPr>
          <p:nvPr/>
        </p:nvSpPr>
        <p:spPr>
          <a:xfrm>
            <a:off x="-381" y="6400038"/>
            <a:ext cx="2331720" cy="2743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495CEA-0E73-57D0-7182-C0418D00291D}"/>
              </a:ext>
            </a:extLst>
          </p:cNvPr>
          <p:cNvSpPr txBox="1"/>
          <p:nvPr/>
        </p:nvSpPr>
        <p:spPr>
          <a:xfrm>
            <a:off x="1162050" y="676275"/>
            <a:ext cx="8839200" cy="5113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 b="1" dirty="0" err="1">
                <a:solidFill>
                  <a:srgbClr val="FFFFFF"/>
                </a:solidFill>
                <a:latin typeface="Arial"/>
                <a:cs typeface="Arial"/>
              </a:rPr>
              <a:t>AfriTech</a:t>
            </a: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 Electronics achieved $57.5M in revenue with 73,586 items sold.</a:t>
            </a:r>
            <a:r>
              <a:rPr lang="en-US" sz="2000" b="1" dirty="0">
                <a:latin typeface="Arial"/>
                <a:cs typeface="Arial"/>
              </a:rPr>
              <a:t>​</a:t>
            </a:r>
            <a:endParaRPr lang="en-US" sz="2000" b="1" dirty="0">
              <a:latin typeface="Arial"/>
              <a:cs typeface="Segoe UI Light"/>
            </a:endParaRP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Over 50% of revenue was lost due to product recalls, especially in Smartwatch and Tablet lines.</a:t>
            </a:r>
            <a:r>
              <a:rPr lang="en-US" sz="2000" b="1" dirty="0">
                <a:latin typeface="Arial"/>
                <a:cs typeface="Arial"/>
              </a:rPr>
              <a:t>​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Social media engagement is high, with Instagram and TikTok leading.</a:t>
            </a:r>
            <a:r>
              <a:rPr lang="en-US" sz="2000" b="1" dirty="0">
                <a:latin typeface="Arial"/>
                <a:cs typeface="Arial"/>
              </a:rPr>
              <a:t>​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Crisis management metrics highlight slow response and moderate resolution rates.</a:t>
            </a:r>
            <a:r>
              <a:rPr lang="en-US" sz="2000" b="1" dirty="0">
                <a:latin typeface="Arial"/>
                <a:cs typeface="Arial"/>
              </a:rPr>
              <a:t>​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Recommendations focus on quality improvement, faster crisis response, and leveraging social channels.</a:t>
            </a:r>
            <a:r>
              <a:rPr lang="en-US" sz="2000" b="1" dirty="0">
                <a:latin typeface="Arial"/>
                <a:cs typeface="Arial"/>
              </a:rPr>
              <a:t>​</a:t>
            </a:r>
          </a:p>
          <a:p>
            <a:pPr marL="285750" indent="-285750">
              <a:lnSpc>
                <a:spcPct val="150000"/>
              </a:lnSpc>
              <a:buFont typeface="Courier New"/>
              <a:buChar char="o"/>
            </a:pPr>
            <a:endParaRPr lang="en-US" sz="2000" b="1" dirty="0">
              <a:latin typeface="Arial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66D3-4BD8-AFF0-74E2-B8F84956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0AC5-E574-FECD-8515-7CD2F47A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36" y="-34290"/>
            <a:ext cx="9269349" cy="593598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Sales Performance overview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9BBDCF-ABA4-BCE0-194C-21B82B60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ADA85-E2CF-1915-B7D2-E912573F0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692" y="642366"/>
            <a:ext cx="258699" cy="531876"/>
          </a:xfrm>
        </p:spPr>
        <p:txBody>
          <a:bodyPr/>
          <a:lstStyle/>
          <a:p>
            <a:r>
              <a:rPr lang="en-US" sz="900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78170-063A-5D16-AF4A-D13B86D66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9567" y="5810250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DECF7-5F7A-6DE4-87F9-59C9F38BD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74614" y="2156841"/>
            <a:ext cx="849249" cy="541401"/>
          </a:xfrm>
        </p:spPr>
        <p:txBody>
          <a:bodyPr/>
          <a:lstStyle/>
          <a:p>
            <a:r>
              <a:rPr lang="en-US" sz="600" dirty="0">
                <a:latin typeface="Arial"/>
                <a:cs typeface="Arial"/>
              </a:rPr>
              <a:t>.</a:t>
            </a:r>
            <a:endParaRPr lang="en-US" sz="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12AB2-621E-783D-0494-DCFE8922B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22864" y="705802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89091A-ED77-BEF5-20AD-0C489B5E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578739" y="60095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37BBCB-DCA0-05AB-09E8-460C73B3886A}"/>
              </a:ext>
            </a:extLst>
          </p:cNvPr>
          <p:cNvSpPr txBox="1"/>
          <p:nvPr/>
        </p:nvSpPr>
        <p:spPr>
          <a:xfrm>
            <a:off x="9020175" y="8210550"/>
            <a:ext cx="49149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Total Revenue By Customer Type :</a:t>
            </a:r>
            <a:endParaRPr lang="en-US" dirty="0"/>
          </a:p>
        </p:txBody>
      </p:sp>
      <p:sp>
        <p:nvSpPr>
          <p:cNvPr id="92" name="Footer Placeholder 2">
            <a:extLst>
              <a:ext uri="{FF2B5EF4-FFF2-40B4-BE49-F238E27FC236}">
                <a16:creationId xmlns:a16="http://schemas.microsoft.com/office/drawing/2014/main" id="{052ED042-A8BB-8489-0DC5-9B885E092A9E}"/>
              </a:ext>
            </a:extLst>
          </p:cNvPr>
          <p:cNvSpPr txBox="1">
            <a:spLocks/>
          </p:cNvSpPr>
          <p:nvPr/>
        </p:nvSpPr>
        <p:spPr>
          <a:xfrm>
            <a:off x="-381" y="6400038"/>
            <a:ext cx="2331720" cy="2743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2579CE0-13FE-F7F1-AA07-7F66B4D180A1}"/>
              </a:ext>
            </a:extLst>
          </p:cNvPr>
          <p:cNvSpPr txBox="1"/>
          <p:nvPr/>
        </p:nvSpPr>
        <p:spPr>
          <a:xfrm>
            <a:off x="574718" y="756069"/>
            <a:ext cx="4923623" cy="31547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Total Revenue: $57,534,246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Items Sold: 73,586</a:t>
            </a:r>
          </a:p>
          <a:p>
            <a:pPr marL="342900" indent="-342900"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Revenue Lost: 50%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Avg. Purchase Amount:</a:t>
            </a: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 $782;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Max Purchase Amount:</a:t>
            </a: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 $2000;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Min Purchase Amount:</a:t>
            </a: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 $100.</a:t>
            </a:r>
          </a:p>
          <a:p>
            <a:pPr marL="342900" indent="-342900"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MoM Revenue Growth (2023):</a:t>
            </a: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 -3%</a:t>
            </a:r>
          </a:p>
          <a:p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>
              <a:buFont typeface="Courier New"/>
              <a:buChar char="o"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Product-wise Breakdown: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108" name="Content Placeholder 14">
            <a:extLst>
              <a:ext uri="{FF2B5EF4-FFF2-40B4-BE49-F238E27FC236}">
                <a16:creationId xmlns:a16="http://schemas.microsoft.com/office/drawing/2014/main" id="{21CBF3C6-2443-30D4-B693-BCF0B9027B4F}"/>
              </a:ext>
            </a:extLst>
          </p:cNvPr>
          <p:cNvGraphicFramePr>
            <a:graphicFrameLocks/>
          </p:cNvGraphicFramePr>
          <p:nvPr/>
        </p:nvGraphicFramePr>
        <p:xfrm>
          <a:off x="1000125" y="3943350"/>
          <a:ext cx="3463643" cy="20632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83228">
                  <a:extLst>
                    <a:ext uri="{9D8B030D-6E8A-4147-A177-3AD203B41FA5}">
                      <a16:colId xmlns:a16="http://schemas.microsoft.com/office/drawing/2014/main" val="406672234"/>
                    </a:ext>
                  </a:extLst>
                </a:gridCol>
                <a:gridCol w="1580415">
                  <a:extLst>
                    <a:ext uri="{9D8B030D-6E8A-4147-A177-3AD203B41FA5}">
                      <a16:colId xmlns:a16="http://schemas.microsoft.com/office/drawing/2014/main" val="2663115726"/>
                    </a:ext>
                  </a:extLst>
                </a:gridCol>
              </a:tblGrid>
              <a:tr h="412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Product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Loss (%)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29469"/>
                  </a:ext>
                </a:extLst>
              </a:tr>
              <a:tr h="4126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Smartwatch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52%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94370767"/>
                  </a:ext>
                </a:extLst>
              </a:tr>
              <a:tr h="412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Tablet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51%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386244"/>
                  </a:ext>
                </a:extLst>
              </a:tr>
              <a:tr h="4126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Smartphone</a:t>
                      </a:r>
                      <a:endParaRPr lang="en-US" b="1" i="0">
                        <a:latin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50%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968831821"/>
                  </a:ext>
                </a:extLst>
              </a:tr>
              <a:tr h="4126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Laptop</a:t>
                      </a:r>
                      <a:endParaRPr lang="en-US" sz="2000" b="1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50%</a:t>
                      </a:r>
                      <a:endParaRPr lang="en-US" b="1" i="0">
                        <a:latin typeface="Arial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487774039"/>
                  </a:ext>
                </a:extLst>
              </a:tr>
            </a:tbl>
          </a:graphicData>
        </a:graphic>
      </p:graphicFrame>
      <p:pic>
        <p:nvPicPr>
          <p:cNvPr id="110" name="Picture 10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A09C8A-B14B-216C-1E52-26305248A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208" y="3093951"/>
            <a:ext cx="4177455" cy="1079298"/>
          </a:xfrm>
          <a:prstGeom prst="rect">
            <a:avLst/>
          </a:prstGeom>
        </p:spPr>
      </p:pic>
      <p:pic>
        <p:nvPicPr>
          <p:cNvPr id="112" name="Picture 111" descr="A screenshot of a graph&#10;&#10;AI-generated content may be incorrect.">
            <a:extLst>
              <a:ext uri="{FF2B5EF4-FFF2-40B4-BE49-F238E27FC236}">
                <a16:creationId xmlns:a16="http://schemas.microsoft.com/office/drawing/2014/main" id="{6B1F1266-CFB5-8687-A633-4C50BF6E1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338" y="4410075"/>
            <a:ext cx="5105400" cy="1724025"/>
          </a:xfrm>
          <a:prstGeom prst="rect">
            <a:avLst/>
          </a:prstGeom>
        </p:spPr>
      </p:pic>
      <p:pic>
        <p:nvPicPr>
          <p:cNvPr id="114" name="Picture 1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B89118-ED20-E585-ECE4-DEF9F0B4F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613" y="757238"/>
            <a:ext cx="6334125" cy="1038225"/>
          </a:xfrm>
          <a:prstGeom prst="rect">
            <a:avLst/>
          </a:prstGeom>
        </p:spPr>
      </p:pic>
      <p:pic>
        <p:nvPicPr>
          <p:cNvPr id="116" name="Picture 1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81D7A3-4B77-A64F-5B89-CA274247A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613" y="1962150"/>
            <a:ext cx="63341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3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42AA1-EEC7-B8E9-F16F-7989196E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2233-328E-B91B-B904-3926CF54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911" y="-34290"/>
            <a:ext cx="9269349" cy="593598"/>
          </a:xfrm>
        </p:spPr>
        <p:txBody>
          <a:bodyPr/>
          <a:lstStyle/>
          <a:p>
            <a:r>
              <a:rPr lang="en-US" sz="2000" dirty="0">
                <a:latin typeface="Arial"/>
                <a:cs typeface="Arial"/>
              </a:rPr>
              <a:t>Sales Performance overview</a:t>
            </a:r>
            <a:endParaRPr lang="en-US" sz="2000" b="0" dirty="0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8105A4-F882-C07C-82A4-6F8971F7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0D869-2869-FD42-AC54-5362AE09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692" y="642366"/>
            <a:ext cx="5754624" cy="531876"/>
          </a:xfrm>
        </p:spPr>
        <p:txBody>
          <a:bodyPr/>
          <a:lstStyle/>
          <a:p>
            <a:r>
              <a:rPr lang="en-US" sz="2000" dirty="0">
                <a:latin typeface="Arial"/>
                <a:cs typeface="Arial"/>
              </a:rPr>
              <a:t>Regions With The Highest Sales Volume: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62D67-3838-A648-C2E7-D96E3B937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9567" y="5810250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9F84B-3505-5A5B-6C76-3B86AF0E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264" y="3633216"/>
            <a:ext cx="5345049" cy="560451"/>
          </a:xfrm>
        </p:spPr>
        <p:txBody>
          <a:bodyPr/>
          <a:lstStyle/>
          <a:p>
            <a:r>
              <a:rPr lang="en-US" sz="2000" dirty="0">
                <a:latin typeface="Arial"/>
                <a:cs typeface="Arial"/>
              </a:rPr>
              <a:t>Regions With The Worst Sales Volume: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C2DC4-1CC5-92EF-D2A4-08DBA8657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22864" y="705802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8F398A-F77A-6606-43DF-B586AB15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578739" y="60095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624AAF-21AD-DD37-C40C-BB057876C3EB}"/>
              </a:ext>
            </a:extLst>
          </p:cNvPr>
          <p:cNvSpPr txBox="1"/>
          <p:nvPr/>
        </p:nvSpPr>
        <p:spPr>
          <a:xfrm>
            <a:off x="9020175" y="8210550"/>
            <a:ext cx="49149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Total Revenue By Customer Type :</a:t>
            </a:r>
            <a:endParaRPr lang="en-US" dirty="0"/>
          </a:p>
        </p:txBody>
      </p:sp>
      <p:sp>
        <p:nvSpPr>
          <p:cNvPr id="92" name="Footer Placeholder 2">
            <a:extLst>
              <a:ext uri="{FF2B5EF4-FFF2-40B4-BE49-F238E27FC236}">
                <a16:creationId xmlns:a16="http://schemas.microsoft.com/office/drawing/2014/main" id="{F1971281-6220-E6E6-0765-6DD800E466E9}"/>
              </a:ext>
            </a:extLst>
          </p:cNvPr>
          <p:cNvSpPr txBox="1">
            <a:spLocks/>
          </p:cNvSpPr>
          <p:nvPr/>
        </p:nvSpPr>
        <p:spPr>
          <a:xfrm>
            <a:off x="-381" y="6400038"/>
            <a:ext cx="2331720" cy="2743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.</a:t>
            </a:r>
          </a:p>
        </p:txBody>
      </p:sp>
      <p:pic>
        <p:nvPicPr>
          <p:cNvPr id="96" name="Picture 95" descr="A blue and white striped background&#10;&#10;AI-generated content may be incorrect.">
            <a:extLst>
              <a:ext uri="{FF2B5EF4-FFF2-40B4-BE49-F238E27FC236}">
                <a16:creationId xmlns:a16="http://schemas.microsoft.com/office/drawing/2014/main" id="{F66EFFF5-6F5B-B820-7005-73F9C861C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1171575"/>
            <a:ext cx="8582025" cy="225742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A397CE56-6167-49D0-EBB5-5CCCBF43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88" y="4052888"/>
            <a:ext cx="84296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7AA9-A6DE-90FE-9407-1D8BB721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2011-E48E-7F8F-3B28-E1B9FA95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811" y="318135"/>
            <a:ext cx="8888349" cy="488823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Customer</a:t>
            </a:r>
            <a:r>
              <a:rPr lang="en-US" dirty="0">
                <a:latin typeface="TW Cen MT"/>
              </a:rPr>
              <a:t> </a:t>
            </a:r>
            <a:r>
              <a:rPr lang="en-US" sz="2000" dirty="0">
                <a:latin typeface="Arial"/>
                <a:cs typeface="Arial"/>
              </a:rPr>
              <a:t>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F4A964-9FF4-D57B-688A-D7F0E2D9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7BE53-54B6-41A9-65F7-46A4B49FB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867" y="823341"/>
            <a:ext cx="4259199" cy="531876"/>
          </a:xfrm>
        </p:spPr>
        <p:txBody>
          <a:bodyPr/>
          <a:lstStyle/>
          <a:p>
            <a:r>
              <a:rPr lang="en-US" sz="2000" dirty="0">
                <a:latin typeface="Arial"/>
                <a:cs typeface="Arial"/>
              </a:rPr>
              <a:t>Total Purchase by Age Group: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7B70-538B-2438-A6CE-5B81B680C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7117" y="1457325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7F0E6-D690-84D2-89C9-84DA9086E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8514" y="813816"/>
            <a:ext cx="3621024" cy="493776"/>
          </a:xfrm>
        </p:spPr>
        <p:txBody>
          <a:bodyPr/>
          <a:lstStyle/>
          <a:p>
            <a:r>
              <a:rPr lang="en-US" sz="1800" dirty="0">
                <a:latin typeface="Arial"/>
                <a:cs typeface="Arial"/>
              </a:rPr>
              <a:t>Top </a:t>
            </a:r>
            <a:r>
              <a:rPr lang="en-US" sz="2000" dirty="0">
                <a:latin typeface="Arial"/>
                <a:cs typeface="Arial"/>
              </a:rPr>
              <a:t>Value</a:t>
            </a:r>
            <a:r>
              <a:rPr lang="en-US" sz="1800" dirty="0">
                <a:latin typeface="Arial"/>
                <a:cs typeface="Arial"/>
              </a:rPr>
              <a:t> Customers: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46B1E-32B2-8983-9ED1-C27DD6DF3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22464" y="185737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A25C02-5C47-AA87-33FB-2437DA5E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331089" y="62000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BF2312-BF21-78C7-74A0-D8018785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700" y="1305358"/>
            <a:ext cx="5793796" cy="2421947"/>
          </a:xfrm>
          <a:prstGeom prst="rect">
            <a:avLst/>
          </a:prstGeom>
        </p:spPr>
      </p:pic>
      <p:pic>
        <p:nvPicPr>
          <p:cNvPr id="43" name="Picture 42" descr="A screenshot of a graph&#10;&#10;AI-generated content may be incorrect.">
            <a:extLst>
              <a:ext uri="{FF2B5EF4-FFF2-40B4-BE49-F238E27FC236}">
                <a16:creationId xmlns:a16="http://schemas.microsoft.com/office/drawing/2014/main" id="{DC4131D4-77B1-CF30-FF1C-739D7534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3" y="1352550"/>
            <a:ext cx="4914900" cy="24193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7307560-146E-6DD2-A0EC-6AD59142B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4562475"/>
            <a:ext cx="4914900" cy="211455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9A1DBBF-D1DE-F69F-E62C-7B58F0ECD7B7}"/>
              </a:ext>
            </a:extLst>
          </p:cNvPr>
          <p:cNvSpPr txBox="1"/>
          <p:nvPr/>
        </p:nvSpPr>
        <p:spPr>
          <a:xfrm>
            <a:off x="847725" y="3857625"/>
            <a:ext cx="49149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Total Revenue By Customer Type 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6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3CE6-5CC7-0119-9943-52DFCDD0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29E6-E3DB-5923-7EA6-F4B178B7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811" y="318135"/>
            <a:ext cx="8888349" cy="488823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Social Media &amp; Brand Engagement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858A95-3792-95E3-AD81-6CCE521B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D8D27-DF7F-2730-CD6E-FF09E857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692" y="813816"/>
            <a:ext cx="5078349" cy="493776"/>
          </a:xfrm>
        </p:spPr>
        <p:txBody>
          <a:bodyPr/>
          <a:lstStyle/>
          <a:p>
            <a:r>
              <a:rPr lang="en-US" sz="2000" dirty="0">
                <a:latin typeface="Arial"/>
                <a:ea typeface="+mj-lt"/>
                <a:cs typeface="+mj-lt"/>
              </a:rPr>
              <a:t>Average Engagement Rate:</a:t>
            </a:r>
            <a:endParaRPr lang="en-US" dirty="0">
              <a:latin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AEE4E-AF87-890F-CFBC-EF7053399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" y="-85725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3C9E1-2B52-DE30-9FF8-4F5DB5229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0964" y="2995041"/>
            <a:ext cx="3621024" cy="493776"/>
          </a:xfrm>
        </p:spPr>
        <p:txBody>
          <a:bodyPr/>
          <a:lstStyle/>
          <a:p>
            <a:r>
              <a:rPr lang="en-US" sz="2000" dirty="0">
                <a:latin typeface="Arial"/>
                <a:cs typeface="Arial"/>
              </a:rPr>
              <a:t>Influencer</a:t>
            </a:r>
            <a:r>
              <a:rPr lang="en-US" sz="2000" dirty="0">
                <a:latin typeface="Arial"/>
                <a:ea typeface="+mj-lt"/>
                <a:cs typeface="+mj-lt"/>
              </a:rPr>
              <a:t> Scores:</a:t>
            </a:r>
            <a:endParaRPr lang="en-US" sz="2000" dirty="0">
              <a:latin typeface="Arial"/>
            </a:endParaRPr>
          </a:p>
          <a:p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8D928-1B40-5D70-9276-EF54C1DAB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22464" y="185737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A133D1-BA00-75F3-98CB-47D9B29E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331089" y="62000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E0665B-8FEA-6E47-C37A-C86995B20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809625"/>
            <a:ext cx="4705350" cy="1981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D2B0F9-0389-9521-14DB-40D4D2CA2E1A}"/>
              </a:ext>
            </a:extLst>
          </p:cNvPr>
          <p:cNvSpPr txBox="1"/>
          <p:nvPr/>
        </p:nvSpPr>
        <p:spPr>
          <a:xfrm>
            <a:off x="676275" y="1200150"/>
            <a:ext cx="366712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1" indent="-342900">
              <a:buFont typeface="Courier New"/>
              <a:buChar char="o"/>
            </a:pP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Instagram: 20.15%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Twitter: 20.12%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TikTok: 19.94%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Facebook: 19.91%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LinkedIn: 19.88%</a:t>
            </a:r>
          </a:p>
        </p:txBody>
      </p:sp>
      <p:pic>
        <p:nvPicPr>
          <p:cNvPr id="13" name="Picture 1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8F16E659-E4EE-5E94-7E21-0F2334515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25" y="4400550"/>
            <a:ext cx="3933825" cy="228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1DE08D-F808-327D-F235-AB457BB5718E}"/>
              </a:ext>
            </a:extLst>
          </p:cNvPr>
          <p:cNvSpPr txBox="1"/>
          <p:nvPr/>
        </p:nvSpPr>
        <p:spPr>
          <a:xfrm>
            <a:off x="583955" y="3073644"/>
            <a:ext cx="60293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Adriana Orr, Robert Jones, James Rose, Nancy Meyer</a:t>
            </a:r>
            <a:endParaRPr lang="en-US" sz="16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80AC8-45C4-C60A-64DE-B90A94B32E9C}"/>
              </a:ext>
            </a:extLst>
          </p:cNvPr>
          <p:cNvSpPr txBox="1"/>
          <p:nvPr/>
        </p:nvSpPr>
        <p:spPr>
          <a:xfrm>
            <a:off x="586886" y="2594463"/>
            <a:ext cx="27908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Top Influencers:</a:t>
            </a:r>
            <a:endParaRPr lang="en-US" sz="2000" b="1">
              <a:solidFill>
                <a:schemeClr val="bg1"/>
              </a:solidFill>
              <a:latin typeface="Arial"/>
              <a:cs typeface="Segoe UI Light"/>
            </a:endParaRPr>
          </a:p>
        </p:txBody>
      </p:sp>
      <p:pic>
        <p:nvPicPr>
          <p:cNvPr id="18" name="Picture 17" descr="A screenshot of a graph&#10;&#10;AI-generated content may be incorrect.">
            <a:extLst>
              <a:ext uri="{FF2B5EF4-FFF2-40B4-BE49-F238E27FC236}">
                <a16:creationId xmlns:a16="http://schemas.microsoft.com/office/drawing/2014/main" id="{D8CC422E-5BD4-AE1A-51F1-793C4FC6C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4524375"/>
            <a:ext cx="4057650" cy="21621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E69F0F-DBE4-92C0-486D-671075B7A9B0}"/>
              </a:ext>
            </a:extLst>
          </p:cNvPr>
          <p:cNvSpPr txBox="1"/>
          <p:nvPr/>
        </p:nvSpPr>
        <p:spPr>
          <a:xfrm>
            <a:off x="7047767" y="3550626"/>
            <a:ext cx="393382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/>
                <a:cs typeface="Segoe UI Light"/>
              </a:rPr>
              <a:t>Highest score: </a:t>
            </a:r>
            <a:r>
              <a:rPr lang="en-US" sz="1600" b="1" err="1">
                <a:solidFill>
                  <a:schemeClr val="bg1"/>
                </a:solidFill>
                <a:latin typeface="Arial"/>
                <a:cs typeface="Arial"/>
              </a:rPr>
              <a:t>Tiktok</a:t>
            </a:r>
            <a:r>
              <a:rPr lang="en-US" sz="1600" b="1" dirty="0">
                <a:solidFill>
                  <a:schemeClr val="bg1"/>
                </a:solidFill>
                <a:latin typeface="Arial"/>
                <a:cs typeface="Segoe UI Light"/>
              </a:rPr>
              <a:t> (25%)  </a:t>
            </a:r>
            <a:endParaRPr lang="en-US" sz="16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/>
                <a:cs typeface="Segoe UI Light"/>
              </a:rPr>
              <a:t>Lowest  score: </a:t>
            </a:r>
            <a:r>
              <a:rPr lang="en-US" sz="1600" b="1" dirty="0">
                <a:solidFill>
                  <a:schemeClr val="bg1"/>
                </a:solidFill>
                <a:latin typeface="Arial"/>
                <a:cs typeface="Arial"/>
              </a:rPr>
              <a:t>Twitter</a:t>
            </a:r>
            <a:r>
              <a:rPr lang="en-US" sz="1600" b="1" dirty="0">
                <a:solidFill>
                  <a:schemeClr val="bg1"/>
                </a:solidFill>
                <a:latin typeface="Arial"/>
                <a:cs typeface="Segoe UI Light"/>
              </a:rPr>
              <a:t> (23%)</a:t>
            </a:r>
            <a:endParaRPr lang="en-US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1B7B5E-00F3-50BF-E685-02AEBA2D93CD}"/>
              </a:ext>
            </a:extLst>
          </p:cNvPr>
          <p:cNvSpPr txBox="1"/>
          <p:nvPr/>
        </p:nvSpPr>
        <p:spPr>
          <a:xfrm>
            <a:off x="590550" y="3546963"/>
            <a:ext cx="63627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Post Effectiveness: </a:t>
            </a:r>
            <a:endParaRPr lang="en-US" sz="2000" b="1" dirty="0">
              <a:solidFill>
                <a:schemeClr val="bg1"/>
              </a:solidFill>
              <a:latin typeface="Arial"/>
              <a:ea typeface="+mn-lt"/>
              <a:cs typeface="Arial"/>
            </a:endParaRPr>
          </a:p>
          <a:p>
            <a:r>
              <a:rPr lang="en-US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Highest engagement (20.2%): </a:t>
            </a:r>
            <a:r>
              <a:rPr lang="en-US" sz="1600" b="1" dirty="0">
                <a:solidFill>
                  <a:schemeClr val="bg1"/>
                </a:solidFill>
                <a:latin typeface="Arial"/>
                <a:ea typeface="+mn-lt"/>
                <a:cs typeface="Segoe UI Light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Video and link posts</a:t>
            </a:r>
            <a:endParaRPr lang="en-US" sz="1600" b="1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6337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296C-E1F3-2887-F169-5DC381E3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2C0E-37BD-2E93-234E-42FAA597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86" y="165735"/>
            <a:ext cx="8888349" cy="488823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Sentiment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2C374E-C3F0-4B19-8C85-59014C92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7063F-C28C-4871-72A1-7F4E7ACEF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" y="-85725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59A74-9CB6-B683-7646-A940B27CF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22464" y="185737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F390E4-8AC9-D793-D058-BDF2AAE0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331089" y="62000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97B766A-A0A1-D322-4ED0-8348D3EBF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089" y="1070991"/>
            <a:ext cx="5097399" cy="493776"/>
          </a:xfrm>
        </p:spPr>
        <p:txBody>
          <a:bodyPr/>
          <a:lstStyle/>
          <a:p>
            <a:r>
              <a:rPr lang="en-US" dirty="0">
                <a:cs typeface="Segoe UI"/>
              </a:rPr>
              <a:t>Brand Sentiments by Platform</a:t>
            </a:r>
            <a:endParaRPr lang="en-US" dirty="0"/>
          </a:p>
        </p:txBody>
      </p:sp>
      <p:pic>
        <p:nvPicPr>
          <p:cNvPr id="14" name="Picture 13" descr="A screenshot of a social media graph&#10;&#10;AI-generated content may be incorrect.">
            <a:extLst>
              <a:ext uri="{FF2B5EF4-FFF2-40B4-BE49-F238E27FC236}">
                <a16:creationId xmlns:a16="http://schemas.microsoft.com/office/drawing/2014/main" id="{2241C1C8-25BF-C1F1-2086-2B4E9B292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3757613"/>
            <a:ext cx="8039100" cy="2105025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9D4D363-D602-1AA8-CFBE-3E81FE23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042" y="1861566"/>
            <a:ext cx="8907399" cy="1293876"/>
          </a:xfrm>
        </p:spPr>
        <p:txBody>
          <a:bodyPr/>
          <a:lstStyle/>
          <a:p>
            <a:pPr marL="342900" indent="-342900">
              <a:buChar char="o"/>
            </a:pPr>
            <a:r>
              <a:rPr lang="en-US" sz="2000" dirty="0">
                <a:latin typeface="Arial"/>
                <a:ea typeface="+mj-lt"/>
                <a:cs typeface="+mj-lt"/>
              </a:rPr>
              <a:t>Negative sentiment is highest on LinkedIn (20%) </a:t>
            </a:r>
            <a:endParaRPr lang="en-US" sz="2000" dirty="0">
              <a:latin typeface="Arial"/>
            </a:endParaRPr>
          </a:p>
          <a:p>
            <a:pPr marL="342900" indent="-342900">
              <a:buChar char="o"/>
            </a:pPr>
            <a:r>
              <a:rPr lang="en-US" sz="2000" dirty="0">
                <a:latin typeface="Arial"/>
                <a:cs typeface="Segoe UI"/>
              </a:rPr>
              <a:t>Neutral </a:t>
            </a:r>
            <a:r>
              <a:rPr lang="en-US" sz="2000" dirty="0">
                <a:latin typeface="Arial"/>
                <a:cs typeface="Arial"/>
              </a:rPr>
              <a:t>sentiment is highest on </a:t>
            </a:r>
            <a:r>
              <a:rPr lang="en-US" sz="2000" err="1">
                <a:latin typeface="Arial"/>
                <a:cs typeface="Arial"/>
              </a:rPr>
              <a:t>Tiktok</a:t>
            </a:r>
            <a:r>
              <a:rPr lang="en-US" sz="2000" dirty="0">
                <a:latin typeface="Arial"/>
                <a:cs typeface="Arial"/>
              </a:rPr>
              <a:t> and Twitter (43%)</a:t>
            </a:r>
            <a:endParaRPr lang="en-US" sz="2000" dirty="0">
              <a:latin typeface="Arial"/>
              <a:cs typeface="Segoe UI"/>
            </a:endParaRPr>
          </a:p>
          <a:p>
            <a:pPr marL="342900" indent="-342900">
              <a:buChar char="o"/>
            </a:pPr>
            <a:r>
              <a:rPr lang="en-US" sz="2000" dirty="0">
                <a:latin typeface="Arial"/>
                <a:cs typeface="Segoe UI"/>
              </a:rPr>
              <a:t>Positive </a:t>
            </a:r>
            <a:r>
              <a:rPr lang="en-US" sz="2000" dirty="0">
                <a:latin typeface="Arial"/>
                <a:cs typeface="Arial"/>
              </a:rPr>
              <a:t>sentiment is highest on LinkedIn and Facebook (43%)</a:t>
            </a:r>
            <a:endParaRPr lang="en-US" sz="2000" dirty="0">
              <a:latin typeface="Arial"/>
            </a:endParaRPr>
          </a:p>
          <a:p>
            <a:pPr marL="342900" indent="-342900">
              <a:buChar char="o"/>
            </a:pPr>
            <a:endParaRPr lang="en-US" sz="2000" dirty="0">
              <a:latin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8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C3C0-9318-BF3E-DF0E-E68CE52A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0FB3-88CE-DEF7-DB17-665F297E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86" y="165735"/>
            <a:ext cx="8888349" cy="488823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Complaints &amp; Crisis Management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858127-3EF2-0D4A-C4FE-BAC1F37B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732C0-AF75-D880-95C8-FE8B5D388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" y="-85725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D3C52-CCB3-A82C-964A-196C8D47C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22464" y="1857375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CA2B0A-173F-A3F5-4574-A0A71F9F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331089" y="62000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D207A4-735E-B935-3950-BB4C964A1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264" y="728091"/>
            <a:ext cx="5097399" cy="493776"/>
          </a:xfrm>
        </p:spPr>
        <p:txBody>
          <a:bodyPr/>
          <a:lstStyle/>
          <a:p>
            <a:r>
              <a:rPr lang="en-US" sz="2000" dirty="0">
                <a:latin typeface="Arial"/>
                <a:ea typeface="+mj-lt"/>
                <a:cs typeface="+mj-lt"/>
              </a:rPr>
              <a:t>Avg. Resolution Rate is 10.2%</a:t>
            </a:r>
            <a:endParaRPr lang="en-US" sz="2000" dirty="0">
              <a:latin typeface="Arial"/>
            </a:endParaRP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C27D9AE-AABB-A377-9A10-C795080BB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5292" y="1861566"/>
            <a:ext cx="1096899" cy="74676"/>
          </a:xfrm>
        </p:spPr>
        <p:txBody>
          <a:bodyPr/>
          <a:lstStyle/>
          <a:p>
            <a:r>
              <a:rPr lang="en-US" sz="600" dirty="0">
                <a:latin typeface="Arial"/>
                <a:cs typeface="Segoe UI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215B3-F108-248C-A3B0-E1037A41C1C1}"/>
              </a:ext>
            </a:extLst>
          </p:cNvPr>
          <p:cNvSpPr txBox="1"/>
          <p:nvPr/>
        </p:nvSpPr>
        <p:spPr>
          <a:xfrm>
            <a:off x="6582507" y="665284"/>
            <a:ext cx="37909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Unresolved Issue Rate is 11%</a:t>
            </a:r>
            <a:endParaRPr lang="en-US" sz="2000" b="1" dirty="0">
              <a:solidFill>
                <a:schemeClr val="bg1"/>
              </a:solidFill>
              <a:latin typeface="Arial"/>
              <a:cs typeface="Segoe UI Ligh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762D9B-10EC-CFCF-ECA1-AC7A4A2AF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223963"/>
            <a:ext cx="4619625" cy="2343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C37863-B6AD-8119-DBE9-2A755024B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263" y="1219200"/>
            <a:ext cx="4381500" cy="2343150"/>
          </a:xfrm>
          <a:prstGeom prst="rect">
            <a:avLst/>
          </a:prstGeom>
        </p:spPr>
      </p:pic>
      <p:pic>
        <p:nvPicPr>
          <p:cNvPr id="14" name="Picture 13" descr="A graph of a crisis response&#10;&#10;AI-generated content may be incorrect.">
            <a:extLst>
              <a:ext uri="{FF2B5EF4-FFF2-40B4-BE49-F238E27FC236}">
                <a16:creationId xmlns:a16="http://schemas.microsoft.com/office/drawing/2014/main" id="{189A73F0-B042-DD1A-F974-89FD92B68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8" y="4271963"/>
            <a:ext cx="4619625" cy="2581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0645B56-67DF-47BA-A272-DB2820EE9BB0}"/>
              </a:ext>
            </a:extLst>
          </p:cNvPr>
          <p:cNvSpPr txBox="1"/>
          <p:nvPr/>
        </p:nvSpPr>
        <p:spPr>
          <a:xfrm>
            <a:off x="590550" y="3778494"/>
            <a:ext cx="46196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/>
                <a:cs typeface="Segoe UI Light"/>
              </a:rPr>
              <a:t>Avg. Crisis Response Time is 27 Weeks</a:t>
            </a:r>
          </a:p>
        </p:txBody>
      </p:sp>
      <p:pic>
        <p:nvPicPr>
          <p:cNvPr id="17" name="Picture 16" descr="A graph of a graph&#10;&#10;AI-generated content may be incorrect.">
            <a:extLst>
              <a:ext uri="{FF2B5EF4-FFF2-40B4-BE49-F238E27FC236}">
                <a16:creationId xmlns:a16="http://schemas.microsoft.com/office/drawing/2014/main" id="{4D974AB6-C6CD-1964-FC74-9CB981FED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4267200"/>
            <a:ext cx="6858000" cy="25812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26EF8A2-203D-5F99-DF4D-9A21B904B031}"/>
              </a:ext>
            </a:extLst>
          </p:cNvPr>
          <p:cNvSpPr txBox="1"/>
          <p:nvPr/>
        </p:nvSpPr>
        <p:spPr>
          <a:xfrm>
            <a:off x="7326923" y="385689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7B5815-A78E-2BC2-9CCA-0E83992FABEB}"/>
              </a:ext>
            </a:extLst>
          </p:cNvPr>
          <p:cNvSpPr txBox="1"/>
          <p:nvPr/>
        </p:nvSpPr>
        <p:spPr>
          <a:xfrm>
            <a:off x="5333267" y="3776296"/>
            <a:ext cx="5905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57 year olds had the highest number of crisis events</a:t>
            </a:r>
          </a:p>
        </p:txBody>
      </p:sp>
    </p:spTree>
    <p:extLst>
      <p:ext uri="{BB962C8B-B14F-4D97-AF65-F5344CB8AC3E}">
        <p14:creationId xmlns:p14="http://schemas.microsoft.com/office/powerpoint/2010/main" val="1729646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95D2-5FD2-3FAC-A07D-324D2C3E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151B-2442-12EF-2854-3FCEE228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86" y="165735"/>
            <a:ext cx="8888349" cy="488823"/>
          </a:xfrm>
        </p:spPr>
        <p:txBody>
          <a:bodyPr/>
          <a:lstStyle/>
          <a:p>
            <a:pPr algn="ctr"/>
            <a:r>
              <a:rPr lang="en-US" sz="2000" dirty="0">
                <a:latin typeface="Arial"/>
                <a:cs typeface="Arial"/>
              </a:rPr>
              <a:t>Recommendations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56253F-CE72-06C7-0440-704953D07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55A71-4AF2-9B2B-E391-54A071291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" y="-85725"/>
            <a:ext cx="220599" cy="397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DC8F2-D96E-8DFC-BBB2-7E0336AD1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951589" y="-76200"/>
            <a:ext cx="163449" cy="159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DA02B4-11E7-5FD9-5651-8101097E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331089" y="6200013"/>
            <a:ext cx="1905" cy="245745"/>
          </a:xfrm>
        </p:spPr>
        <p:txBody>
          <a:bodyPr/>
          <a:lstStyle/>
          <a:p>
            <a:r>
              <a:rPr lang="en-US" dirty="0">
                <a:cs typeface="Segoe UI Light"/>
              </a:rPr>
              <a:t>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A77F88D-C524-1F0E-FF81-B637BB1B0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264" y="842391"/>
            <a:ext cx="8688324" cy="467525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1800" dirty="0">
                <a:latin typeface="Arial"/>
                <a:ea typeface="+mj-lt"/>
                <a:cs typeface="Arial"/>
              </a:rPr>
              <a:t>Reduce Product Recalls:</a:t>
            </a:r>
            <a:r>
              <a:rPr lang="en-US" sz="1800" b="0" dirty="0">
                <a:latin typeface="Arial"/>
                <a:ea typeface="+mj-lt"/>
                <a:cs typeface="Arial"/>
              </a:rPr>
              <a:t> Invest in QA and supply chain improvements.</a:t>
            </a:r>
            <a:endParaRPr lang="en-US" sz="18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1800" dirty="0">
                <a:latin typeface="Arial"/>
                <a:ea typeface="+mj-lt"/>
                <a:cs typeface="Arial"/>
              </a:rPr>
              <a:t>Accelerate Crisis Response:</a:t>
            </a:r>
            <a:r>
              <a:rPr lang="en-US" sz="1800" b="0" dirty="0">
                <a:latin typeface="Arial"/>
                <a:ea typeface="+mj-lt"/>
                <a:cs typeface="Arial"/>
              </a:rPr>
              <a:t> Shorten response times and improve resolution rates.</a:t>
            </a:r>
            <a:endParaRPr lang="en-US" sz="18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1800" dirty="0">
                <a:latin typeface="Arial"/>
                <a:ea typeface="+mj-lt"/>
                <a:cs typeface="Arial"/>
              </a:rPr>
              <a:t>Leverage Social Channels:</a:t>
            </a:r>
            <a:r>
              <a:rPr lang="en-US" sz="1800" b="0" dirty="0">
                <a:latin typeface="Arial"/>
                <a:ea typeface="+mj-lt"/>
                <a:cs typeface="Arial"/>
              </a:rPr>
              <a:t> Focus on Instagram and TikTok for marketing and customer engagement.</a:t>
            </a:r>
            <a:endParaRPr lang="en-US" sz="18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1800" dirty="0">
                <a:latin typeface="Arial"/>
                <a:ea typeface="+mj-lt"/>
                <a:cs typeface="Arial"/>
              </a:rPr>
              <a:t>Customer Retention:</a:t>
            </a:r>
            <a:r>
              <a:rPr lang="en-US" sz="1800" b="0" dirty="0">
                <a:latin typeface="Arial"/>
                <a:ea typeface="+mj-lt"/>
                <a:cs typeface="Arial"/>
              </a:rPr>
              <a:t> Target high-value and loyal customer segments with tailored offers.</a:t>
            </a:r>
            <a:endParaRPr lang="en-US" sz="1800" dirty="0"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r>
              <a:rPr lang="en-US" sz="1800" dirty="0">
                <a:latin typeface="Arial"/>
                <a:ea typeface="+mj-lt"/>
                <a:cs typeface="Arial"/>
              </a:rPr>
              <a:t>Regional Focus:</a:t>
            </a:r>
            <a:r>
              <a:rPr lang="en-US" sz="1800" b="0" dirty="0">
                <a:latin typeface="Arial"/>
                <a:ea typeface="+mj-lt"/>
                <a:cs typeface="Arial"/>
              </a:rPr>
              <a:t> Increase investment in top-performing regions.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</a:pPr>
            <a:endParaRPr lang="en-US" sz="1800" dirty="0">
              <a:latin typeface="Arial"/>
              <a:cs typeface="Arial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07818F9-5BBD-8F7C-29F7-2B09CDA9D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06883" y="128016"/>
            <a:ext cx="1096899" cy="74676"/>
          </a:xfrm>
        </p:spPr>
        <p:txBody>
          <a:bodyPr/>
          <a:lstStyle/>
          <a:p>
            <a:r>
              <a:rPr lang="en-US" sz="600" dirty="0">
                <a:latin typeface="Arial"/>
                <a:cs typeface="Segoe UI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D0E1B-4913-FEB1-6151-59CD32D5B779}"/>
              </a:ext>
            </a:extLst>
          </p:cNvPr>
          <p:cNvSpPr txBox="1"/>
          <p:nvPr/>
        </p:nvSpPr>
        <p:spPr>
          <a:xfrm>
            <a:off x="7326923" y="385689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04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2443" y="3421761"/>
            <a:ext cx="2327910" cy="66217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Light"/>
                <a:cs typeface="Segoe UI Light"/>
              </a:rPr>
              <a:t>Precious Akams </a:t>
            </a:r>
            <a:endParaRPr lang="en-US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490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AfriTech Electronics Ltd </vt:lpstr>
      <vt:lpstr>Executive Summary</vt:lpstr>
      <vt:lpstr>Sales Performance overview</vt:lpstr>
      <vt:lpstr>Sales Performance overview</vt:lpstr>
      <vt:lpstr>Customer Insights</vt:lpstr>
      <vt:lpstr>Social Media &amp; Brand Engagement</vt:lpstr>
      <vt:lpstr>Sentiment Analysis</vt:lpstr>
      <vt:lpstr>Complaints &amp; Crisis Management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1070</cp:revision>
  <dcterms:created xsi:type="dcterms:W3CDTF">2025-05-26T19:39:59Z</dcterms:created>
  <dcterms:modified xsi:type="dcterms:W3CDTF">2025-05-27T20:48:37Z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